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6C4B"/>
                </a:solidFill>
                <a:latin typeface="Calibri"/>
              </a:rPr>
              <a:t>MANAGER BRIEFING · LEARNWISE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06C4B"/>
                </a:solidFill>
                <a:latin typeface="Calibri"/>
              </a:rPr>
              <a:t>What we can do</a:t>
            </a:r>
          </a:p>
          <a:p>
            <a:pPr algn="l">
              <a:spcAft>
                <a:spcPts val="600"/>
              </a:spcAft>
            </a:pPr>
            <a:r>
              <a:rPr sz="4400" b="1">
                <a:solidFill>
                  <a:srgbClr val="032019"/>
                </a:solidFill>
                <a:latin typeface="Calibri"/>
              </a:rPr>
              <a:t>with those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233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4A42"/>
                </a:solidFill>
                <a:latin typeface="Calibri"/>
              </a:rPr>
              <a:t>We reviewed the LearnWise feature list. We will not copy the whole product. We take the parts that help students and teachers inside a Moodle class — and build them into EdVidura.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C4A42"/>
                </a:solidFill>
                <a:latin typeface="Calibri"/>
              </a:rPr>
              <a:t>October 2026 · Plan: docs/LEARNWISE_IMPLEMENTATION_PLAN.md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32019"/>
                </a:solidFill>
                <a:latin typeface="Calibri"/>
              </a:rPr>
              <a:t>Two different products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4937760" cy="3108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6C4B"/>
                </a:solidFill>
                <a:latin typeface="Calibri"/>
              </a:rPr>
              <a:t>EdVidura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32019"/>
                </a:solidFill>
                <a:latin typeface="Calibri"/>
              </a:rPr>
              <a:t>Opens from Moodle. Helps with this class — Ask Vidura, quizzes, study path, learning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463040"/>
            <a:ext cx="4937760" cy="3108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0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05A3A"/>
                </a:solidFill>
                <a:latin typeface="Calibri"/>
              </a:rPr>
              <a:t>LearnWise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32019"/>
                </a:solidFill>
                <a:latin typeface="Calibri"/>
              </a:rPr>
              <a:t>Campus help widget + tutor + grader + ops agent across many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4A42"/>
                </a:solidFill>
                <a:latin typeface="Calibri"/>
              </a:rPr>
              <a:t>Same ideas sometimes. Different job. We borrow tutor ideas — we do not rebuild their campus suite.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32019"/>
                </a:solidFill>
                <a:latin typeface="Calibri"/>
              </a:rPr>
              <a:t>What students get today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C4A42"/>
                </a:solidFill>
                <a:latin typeface="Calibri"/>
              </a:rPr>
              <a:t>Already live or nearly ready in EdVidura.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029200" cy="2011680"/>
          </a:xfrm>
          <a:prstGeom prst="roundRect">
            <a:avLst>
              <a:gd name="adj" fmla="val 15000"/>
            </a:avLst>
          </a:prstGeom>
          <a:solidFill>
            <a:srgbClr val="F0C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32019"/>
                </a:solidFill>
                <a:latin typeface="Calibri"/>
              </a:rPr>
              <a:t>Ask Vidura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Answers from this class’s lessons only — with source titles you can check.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554480"/>
            <a:ext cx="5029200" cy="201168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32019"/>
                </a:solidFill>
                <a:latin typeface="Calibri"/>
              </a:rPr>
              <a:t>Smart quizzes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Different questions per student. Whole book. Difficulty levels. Study-plan check.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23360"/>
            <a:ext cx="5029200" cy="2011680"/>
          </a:xfrm>
          <a:prstGeom prst="roundRect">
            <a:avLst>
              <a:gd name="adj" fmla="val 15000"/>
            </a:avLst>
          </a:prstGeom>
          <a:solidFill>
            <a:srgbClr val="40C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32019"/>
                </a:solidFill>
                <a:latin typeface="Calibri"/>
              </a:rPr>
              <a:t>Voice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Talk and listen in many Indian languages + English.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023360"/>
            <a:ext cx="5029200" cy="2011680"/>
          </a:xfrm>
          <a:prstGeom prst="roundRect">
            <a:avLst>
              <a:gd name="adj" fmla="val 15000"/>
            </a:avLst>
          </a:prstGeom>
          <a:solidFill>
            <a:srgbClr val="F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32019"/>
                </a:solidFill>
                <a:latin typeface="Calibri"/>
              </a:rPr>
              <a:t>Learning trail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Chat and quiz events saved (xAPI) for teachers and reports.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What we will add next (Phase A)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4D399"/>
                </a:solidFill>
                <a:latin typeface="Calibri"/>
              </a:rPr>
              <a:t>Small, safe upgrades to Ask Vidura — high value, low risk.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394960" cy="2011680"/>
          </a:xfrm>
          <a:prstGeom prst="roundRect">
            <a:avLst>
              <a:gd name="adj" fmla="val 15000"/>
            </a:avLst>
          </a:prstGeom>
          <a:solidFill>
            <a:srgbClr val="1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34D399"/>
                </a:solidFill>
                <a:latin typeface="Calibri"/>
              </a:rPr>
              <a:t>01  Quick buttons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Teacher sets 3–5 starter questions so students know what to ask.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394960" cy="2011680"/>
          </a:xfrm>
          <a:prstGeom prst="roundRect">
            <a:avLst>
              <a:gd name="adj" fmla="val 15000"/>
            </a:avLst>
          </a:prstGeom>
          <a:solidFill>
            <a:srgbClr val="1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34D399"/>
                </a:solidFill>
                <a:latin typeface="Calibri"/>
              </a:rPr>
              <a:t>02  Ask again clearly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If the question is fuzzy, coach asks one short clarifying question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49039"/>
            <a:ext cx="5394960" cy="2011680"/>
          </a:xfrm>
          <a:prstGeom prst="roundRect">
            <a:avLst>
              <a:gd name="adj" fmla="val 15000"/>
            </a:avLst>
          </a:prstGeom>
          <a:solidFill>
            <a:srgbClr val="1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34D399"/>
                </a:solidFill>
                <a:latin typeface="Calibri"/>
              </a:rPr>
              <a:t>03  Thumbs up / down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Students rate answers. We save that for teachers and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749039"/>
            <a:ext cx="5394960" cy="2011680"/>
          </a:xfrm>
          <a:prstGeom prst="roundRect">
            <a:avLst>
              <a:gd name="adj" fmla="val 15000"/>
            </a:avLst>
          </a:prstGeom>
          <a:solidFill>
            <a:srgbClr val="1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34D399"/>
                </a:solidFill>
                <a:latin typeface="Calibri"/>
              </a:rPr>
              <a:t>04  Flashcards + integrity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Study cards from lessons. Coach won’t write exams or whole assignments.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32019"/>
                </a:solidFill>
                <a:latin typeface="Calibri"/>
              </a:rPr>
              <a:t>A day in the student’s shoes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32019"/>
                </a:solidFill>
                <a:latin typeface="Calibri"/>
              </a:rPr>
              <a:t>1. Open Moodle → launch EdVidura for this course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32019"/>
                </a:solidFill>
                <a:latin typeface="Calibri"/>
              </a:rPr>
              <a:t>2. Tap a quick button or ask Ask Vidura in their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32019"/>
                </a:solidFill>
                <a:latin typeface="Calibri"/>
              </a:rPr>
              <a:t>3. Get a grounded answer with lesson sources — or a polite “stay on class”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32019"/>
                </a:solidFill>
                <a:latin typeface="Calibri"/>
              </a:rPr>
              <a:t>4. Practice — quiz or flashcards on weak spots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32019"/>
                </a:solidFill>
                <a:latin typeface="Calibri"/>
              </a:rPr>
              <a:t>5. Thumb the answer — teacher later sees what helped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32019"/>
                </a:solidFill>
                <a:latin typeface="Calibri"/>
              </a:rPr>
              <a:t>What teachers 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1088136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0C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06C4B"/>
                </a:solidFill>
                <a:latin typeface="Calibri"/>
              </a:rPr>
              <a:t>Approve the knowledge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Pick which lessons and manuals the coach may use (SME sources).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5303520" cy="1554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0C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06C4B"/>
                </a:solidFill>
                <a:latin typeface="Calibri"/>
              </a:rPr>
              <a:t>Set the coach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Shortcuts, welcome tone, integrity “don’t do the homework.”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468880"/>
            <a:ext cx="5303520" cy="1554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0C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06C4B"/>
                </a:solidFill>
                <a:latin typeface="Calibri"/>
              </a:rPr>
              <a:t>Quiz control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Level, how hard, how much of the book to cover.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97680"/>
            <a:ext cx="10881360" cy="1554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0C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06C4B"/>
                </a:solidFill>
                <a:latin typeface="Calibri"/>
              </a:rPr>
              <a:t>Grade help (draft only)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AI suggests feedback — teacher edits. Nothing auto-sent to Moodle grades.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32019"/>
                </a:solidFill>
                <a:latin typeface="Calibri"/>
              </a:rPr>
              <a:t>What comes after (Phase B)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C4A42"/>
                </a:solidFill>
                <a:latin typeface="Calibri"/>
              </a:rPr>
              <a:t>When Phase A works in Riverside.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394960" cy="2011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0C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06C4B"/>
                </a:solidFill>
                <a:latin typeface="Calibri"/>
              </a:rPr>
              <a:t>B1  Study plan on screen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Student sees “what to do next” from adaptive + chat + LMS signals.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394960" cy="2011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0C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06C4B"/>
                </a:solidFill>
                <a:latin typeface="Calibri"/>
              </a:rPr>
              <a:t>B2  Coach insights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Teacher view: what students ask, refusals, thumbs, money saved by JEV.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49039"/>
            <a:ext cx="5394960" cy="2011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0C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06C4B"/>
                </a:solidFill>
                <a:latin typeface="Calibri"/>
              </a:rPr>
              <a:t>B3  Better grade assist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Clearer drafts from rubrics — still copy into Moodle yourself.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749039"/>
            <a:ext cx="5394960" cy="2011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0C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06C4B"/>
                </a:solidFill>
                <a:latin typeface="Calibri"/>
              </a:rPr>
              <a:t>B4  Optional Moodle files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Pull more course files into the approved knowledge list.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What we will not build (for now)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4D399"/>
                </a:solidFill>
                <a:latin typeface="Calibri"/>
              </a:rPr>
              <a:t>Say this clearly in meetings — saves months of wrong work.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554480"/>
            <a:ext cx="9418320" cy="914400"/>
          </a:xfrm>
          <a:prstGeom prst="roundRect">
            <a:avLst>
              <a:gd name="adj" fmla="val 15000"/>
            </a:avLst>
          </a:prstGeom>
          <a:solidFill>
            <a:srgbClr val="F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Campus helpdesk chatbot / ticket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651760"/>
            <a:ext cx="9418320" cy="914400"/>
          </a:xfrm>
          <a:prstGeom prst="roundRect">
            <a:avLst>
              <a:gd name="adj" fmla="val 15000"/>
            </a:avLst>
          </a:prstGeom>
          <a:solidFill>
            <a:srgbClr val="F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Auto-write grades into Moodle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749039"/>
            <a:ext cx="9418320" cy="914400"/>
          </a:xfrm>
          <a:prstGeom prst="roundRect">
            <a:avLst>
              <a:gd name="adj" fmla="val 15000"/>
            </a:avLst>
          </a:prstGeom>
          <a:solidFill>
            <a:srgbClr val="F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Ops agent that bulk-changes the LMS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846320"/>
            <a:ext cx="9418320" cy="914400"/>
          </a:xfrm>
          <a:prstGeom prst="roundRect">
            <a:avLst>
              <a:gd name="adj" fmla="val 15000"/>
            </a:avLst>
          </a:prstGeom>
          <a:solidFill>
            <a:srgbClr val="F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Teams / SharePoint / 400-tool help library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32019"/>
                </a:solidFill>
                <a:latin typeface="Calibri"/>
              </a:rPr>
              <a:t>How we build (safe rules)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6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1. Reuse modules — coach, SME, quiz, JEV, xAPI — don’t invent a parallel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106984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6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2. Decide first, write second — JEV / rules gate; AI writes only when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6984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6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3. One slice at a time — feature flag + test + Riverside demo + sheet 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6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4. Teacher stays in charge of grades and approved content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32019"/>
                </a:solidFill>
                <a:latin typeface="Calibri"/>
              </a:rPr>
              <a:t>Roadmap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63040"/>
            <a:ext cx="2743200" cy="384048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32019"/>
                </a:solidFill>
                <a:latin typeface="Calibri"/>
              </a:rPr>
              <a:t>NOW · A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032019"/>
                </a:solidFill>
                <a:latin typeface="Calibri"/>
              </a:rPr>
              <a:t>Shortcuts, clarify, thumbs, flashcards, integrity, JEV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463040"/>
            <a:ext cx="2743200" cy="3840480"/>
          </a:xfrm>
          <a:prstGeom prst="roundRect">
            <a:avLst>
              <a:gd name="adj" fmla="val 15000"/>
            </a:avLst>
          </a:prstGeom>
          <a:solidFill>
            <a:srgbClr val="40C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32019"/>
                </a:solidFill>
                <a:latin typeface="Calibri"/>
              </a:rPr>
              <a:t>NEXT · B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032019"/>
                </a:solidFill>
                <a:latin typeface="Calibri"/>
              </a:rPr>
              <a:t>Study plan UI, coach insights, grade-assist polish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463040"/>
            <a:ext cx="2743200" cy="3840480"/>
          </a:xfrm>
          <a:prstGeom prst="roundRect">
            <a:avLst>
              <a:gd name="adj" fmla="val 15000"/>
            </a:avLst>
          </a:prstGeom>
          <a:solidFill>
            <a:srgbClr val="F0C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32019"/>
                </a:solidFill>
                <a:latin typeface="Calibri"/>
              </a:rPr>
              <a:t>LATER · C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032019"/>
                </a:solidFill>
                <a:latin typeface="Calibri"/>
              </a:rPr>
              <a:t>Role-play, video jump-to, nicer extras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463040"/>
            <a:ext cx="2743200" cy="3840480"/>
          </a:xfrm>
          <a:prstGeom prst="roundRect">
            <a:avLst>
              <a:gd name="adj" fmla="val 15000"/>
            </a:avLst>
          </a:prstGeom>
          <a:solidFill>
            <a:srgbClr val="F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32019"/>
                </a:solidFill>
                <a:latin typeface="Calibri"/>
              </a:rPr>
              <a:t>ONLY IF ASKED · 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032019"/>
                </a:solidFill>
                <a:latin typeface="Calibri"/>
              </a:rPr>
              <a:t>Campus widget, help desks, ops writes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ASK FOR THE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Approve Phase 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34D399"/>
                </a:solidFill>
                <a:latin typeface="Calibri"/>
              </a:rPr>
              <a:t>Start with shortcuts, clarify, thumbs, flashcards, and integrity — inside Ask Vidura. Keep Moodle as the gradebook.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